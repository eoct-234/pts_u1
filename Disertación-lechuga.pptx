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9" r:id="rId7"/>
    <p:sldId id="268" r:id="rId8"/>
    <p:sldId id="263" r:id="rId9"/>
    <p:sldId id="383" r:id="rId10"/>
    <p:sldId id="382" r:id="rId11"/>
  </p:sldIdLst>
  <p:sldSz cx="18288000" cy="10287000"/>
  <p:notesSz cx="6858000" cy="9144000"/>
  <p:embeddedFontLst>
    <p:embeddedFont>
      <p:font typeface="Times New Roman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20" y="2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1344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7584/rcch.2018v12i3.7720" TargetMode="External"/><Relationship Id="rId13" Type="http://schemas.openxmlformats.org/officeDocument/2006/relationships/hyperlink" Target="https://scholar.google.com/citations?view_op=view_citation&amp;hl=es&amp;user=uirNabYAAAAJ&amp;citation_for_view=uirNabYAAAAJ:XiSMed-E-HIC" TargetMode="External"/><Relationship Id="rId18" Type="http://schemas.openxmlformats.org/officeDocument/2006/relationships/image" Target="../media/image1.jpeg"/><Relationship Id="rId3" Type="http://schemas.openxmlformats.org/officeDocument/2006/relationships/hyperlink" Target="https://doi.org/10.1007/978-1-4614-4693-4" TargetMode="External"/><Relationship Id="rId7" Type="http://schemas.openxmlformats.org/officeDocument/2006/relationships/hyperlink" Target="https://doi.org/10.1007/s10811-013-0078-4" TargetMode="External"/><Relationship Id="rId12" Type="http://schemas.openxmlformats.org/officeDocument/2006/relationships/hyperlink" Target="http://scielo.sld.cu/pdf/ctr/v35n3/ctr03314.pdf" TargetMode="External"/><Relationship Id="rId17" Type="http://schemas.openxmlformats.org/officeDocument/2006/relationships/image" Target="../media/image4.png"/><Relationship Id="rId2" Type="http://schemas.openxmlformats.org/officeDocument/2006/relationships/hyperlink" Target="https://doi.org/10.1007/s11103-010-9601-z" TargetMode="Externa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11/j.1469-8137.2006.01787.x" TargetMode="External"/><Relationship Id="rId11" Type="http://schemas.openxmlformats.org/officeDocument/2006/relationships/hyperlink" Target="https://orbi.uliege.be/bitstream/2268/37372/1/articulo%20definitivo%20agricultura%20nov.pdf" TargetMode="External"/><Relationship Id="rId5" Type="http://schemas.openxmlformats.org/officeDocument/2006/relationships/hyperlink" Target="https://doi.org/https:/doi.org/10.1614/0043-1745(2002)050%5b0248:AOHTTQ%5d2.0.CO;2" TargetMode="External"/><Relationship Id="rId15" Type="http://schemas.openxmlformats.org/officeDocument/2006/relationships/image" Target="../media/image3.png"/><Relationship Id="rId10" Type="http://schemas.openxmlformats.org/officeDocument/2006/relationships/hyperlink" Target="https://doi.org/10.1038/nrm728" TargetMode="External"/><Relationship Id="rId4" Type="http://schemas.openxmlformats.org/officeDocument/2006/relationships/hyperlink" Target="https://doi.org/10.1073/pnas.38.8.662" TargetMode="External"/><Relationship Id="rId9" Type="http://schemas.openxmlformats.org/officeDocument/2006/relationships/hyperlink" Target="https://doi.org/10.1590/S0102-05362002000100020" TargetMode="External"/><Relationship Id="rId14" Type="http://schemas.openxmlformats.org/officeDocument/2006/relationships/hyperlink" Target="https://doi.org/10.1016/j.plaphy.2012.05.027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gif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687118"/>
            <a:ext cx="15383022" cy="647000"/>
          </a:xfrm>
          <a:custGeom>
            <a:avLst/>
            <a:gdLst/>
            <a:ahLst/>
            <a:cxnLst/>
            <a:rect l="l" t="t" r="r" b="b"/>
            <a:pathLst>
              <a:path w="15383022" h="647000">
                <a:moveTo>
                  <a:pt x="0" y="0"/>
                </a:moveTo>
                <a:lnTo>
                  <a:pt x="15383022" y="0"/>
                </a:lnTo>
                <a:lnTo>
                  <a:pt x="15383022" y="647000"/>
                </a:lnTo>
                <a:lnTo>
                  <a:pt x="0" y="64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8883" b="-191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>
            <a:off x="15383022" y="9686348"/>
            <a:ext cx="2904978" cy="6470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>
            <a:off x="-9046" y="2571856"/>
            <a:ext cx="18297046" cy="3675257"/>
          </a:xfrm>
          <a:custGeom>
            <a:avLst/>
            <a:gdLst/>
            <a:ahLst/>
            <a:cxnLst/>
            <a:rect l="l" t="t" r="r" b="b"/>
            <a:pathLst>
              <a:path w="18297046" h="3675257">
                <a:moveTo>
                  <a:pt x="0" y="0"/>
                </a:moveTo>
                <a:lnTo>
                  <a:pt x="18297046" y="0"/>
                </a:lnTo>
                <a:lnTo>
                  <a:pt x="18297046" y="3675257"/>
                </a:lnTo>
                <a:lnTo>
                  <a:pt x="0" y="3675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865" r="-12363" b="-156963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TextBox 5"/>
          <p:cNvSpPr txBox="1"/>
          <p:nvPr/>
        </p:nvSpPr>
        <p:spPr>
          <a:xfrm>
            <a:off x="1433457" y="859917"/>
            <a:ext cx="15461729" cy="154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endParaRPr dirty="0"/>
          </a:p>
          <a:p>
            <a:pPr algn="ctr">
              <a:lnSpc>
                <a:spcPts val="3888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FACULTAD DE INGENIERÍA Y CIENCIAS AGRARIAS</a:t>
            </a:r>
          </a:p>
          <a:p>
            <a:pPr algn="ctr">
              <a:lnSpc>
                <a:spcPts val="3888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ESCUELA PROFESIONAL DE INGENIERÍA AGRÓNOMA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895186" y="8627394"/>
            <a:ext cx="1152569" cy="553998"/>
            <a:chOff x="0" y="0"/>
            <a:chExt cx="1536758" cy="738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6700" cy="738632"/>
            </a:xfrm>
            <a:custGeom>
              <a:avLst/>
              <a:gdLst/>
              <a:ahLst/>
              <a:cxnLst/>
              <a:rect l="l" t="t" r="r" b="b"/>
              <a:pathLst>
                <a:path w="1536700" h="738632">
                  <a:moveTo>
                    <a:pt x="0" y="0"/>
                  </a:moveTo>
                  <a:lnTo>
                    <a:pt x="1536700" y="0"/>
                  </a:lnTo>
                  <a:lnTo>
                    <a:pt x="1536700" y="738632"/>
                  </a:lnTo>
                  <a:lnTo>
                    <a:pt x="0" y="738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536758" cy="79581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9047" y="103089"/>
            <a:ext cx="4394245" cy="1288731"/>
            <a:chOff x="0" y="0"/>
            <a:chExt cx="5858993" cy="17183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59018" cy="1718310"/>
            </a:xfrm>
            <a:custGeom>
              <a:avLst/>
              <a:gdLst/>
              <a:ahLst/>
              <a:cxnLst/>
              <a:rect l="l" t="t" r="r" b="b"/>
              <a:pathLst>
                <a:path w="5859018" h="1718310">
                  <a:moveTo>
                    <a:pt x="0" y="0"/>
                  </a:moveTo>
                  <a:lnTo>
                    <a:pt x="5859018" y="0"/>
                  </a:lnTo>
                  <a:lnTo>
                    <a:pt x="5859018" y="1718310"/>
                  </a:lnTo>
                  <a:lnTo>
                    <a:pt x="0" y="1718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98" b="-397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356284" y="104766"/>
            <a:ext cx="1798525" cy="1804686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2" name="TextBox 12"/>
          <p:cNvSpPr txBox="1"/>
          <p:nvPr/>
        </p:nvSpPr>
        <p:spPr>
          <a:xfrm>
            <a:off x="1039416" y="6436233"/>
            <a:ext cx="8710431" cy="302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INTEGRANTES:</a:t>
            </a:r>
          </a:p>
          <a:p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Campos Troyes Edgar Orlando</a:t>
            </a:r>
          </a:p>
          <a:p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Tarrillo Reina Mayra </a:t>
            </a:r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Estefanny</a:t>
            </a:r>
            <a:endParaRPr lang="es-PE" sz="2799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Neyra</a:t>
            </a:r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Alarcon</a:t>
            </a:r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 Shirley Milagros</a:t>
            </a:r>
          </a:p>
          <a:p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Silva Castro </a:t>
            </a:r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Jose</a:t>
            </a:r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 Luis</a:t>
            </a:r>
          </a:p>
          <a:p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Tapia Chavarri Britney </a:t>
            </a:r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Emeli</a:t>
            </a:r>
            <a:endParaRPr lang="es-PE" sz="2799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Montano Salazar Segundo </a:t>
            </a:r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Bernabe</a:t>
            </a:r>
            <a:endParaRPr lang="es-PE" sz="2799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083104" y="7041496"/>
            <a:ext cx="5162452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DOCENTE: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Lozano Isla, Flavio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87422" y="9665880"/>
            <a:ext cx="1713155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34519" y="5393777"/>
            <a:ext cx="1165960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8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PRODUCCIÓN Y TECNOLOGIA DE SEMILLAS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2E68E7D-537C-46DD-99B1-F9FA96CE9EAF}"/>
              </a:ext>
            </a:extLst>
          </p:cNvPr>
          <p:cNvSpPr txBox="1"/>
          <p:nvPr/>
        </p:nvSpPr>
        <p:spPr>
          <a:xfrm>
            <a:off x="1039416" y="3261397"/>
            <a:ext cx="162498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Germinación de semillas de lechuga expuestas a condiciones con luz y sin luz.</a:t>
            </a:r>
            <a:endParaRPr lang="es-PE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" y="9464175"/>
            <a:ext cx="18288000" cy="836200"/>
            <a:chOff x="0" y="0"/>
            <a:chExt cx="24384000" cy="11149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87422" y="9665880"/>
            <a:ext cx="1713155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11089" y="845685"/>
            <a:ext cx="5065819" cy="606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I. INTRODUCCIÓN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08842E3-03D6-4301-AD5C-2EB376B52F6E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2E7B9840-CC00-2AD0-BDA0-75B6CCB3805F}"/>
              </a:ext>
            </a:extLst>
          </p:cNvPr>
          <p:cNvSpPr/>
          <p:nvPr/>
        </p:nvSpPr>
        <p:spPr>
          <a:xfrm>
            <a:off x="15249831" y="948149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B7A1FC5-5BE9-9B57-D8E5-058EB5FAE4E4}"/>
              </a:ext>
            </a:extLst>
          </p:cNvPr>
          <p:cNvSpPr/>
          <p:nvPr/>
        </p:nvSpPr>
        <p:spPr>
          <a:xfrm>
            <a:off x="1267705" y="2360788"/>
            <a:ext cx="4489630" cy="1176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¿</a:t>
            </a:r>
            <a:r>
              <a:rPr lang="en-US" sz="30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Qué</a:t>
            </a:r>
            <a:r>
              <a:rPr lang="en-US" sz="3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es la germinación?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2177A7-A0ED-5126-F1AC-04BFB4EB62BC}"/>
              </a:ext>
            </a:extLst>
          </p:cNvPr>
          <p:cNvCxnSpPr/>
          <p:nvPr/>
        </p:nvCxnSpPr>
        <p:spPr>
          <a:xfrm flipV="1">
            <a:off x="1267705" y="2095500"/>
            <a:ext cx="1645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4">
            <a:extLst>
              <a:ext uri="{FF2B5EF4-FFF2-40B4-BE49-F238E27FC236}">
                <a16:creationId xmlns:a16="http://schemas.microsoft.com/office/drawing/2014/main" id="{4408E6A4-3D2A-9847-FF3A-24CAE0A18A18}"/>
              </a:ext>
            </a:extLst>
          </p:cNvPr>
          <p:cNvSpPr/>
          <p:nvPr/>
        </p:nvSpPr>
        <p:spPr>
          <a:xfrm>
            <a:off x="6955936" y="2360788"/>
            <a:ext cx="4489630" cy="1176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Factores</a:t>
            </a:r>
            <a:r>
              <a:rPr lang="en-US" sz="3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influyentes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04AFE419-075C-85A1-BA11-252D033C4C3B}"/>
              </a:ext>
            </a:extLst>
          </p:cNvPr>
          <p:cNvSpPr/>
          <p:nvPr/>
        </p:nvSpPr>
        <p:spPr>
          <a:xfrm>
            <a:off x="12615335" y="2360788"/>
            <a:ext cx="4489630" cy="1176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Fotoblastismo</a:t>
            </a:r>
            <a:r>
              <a:rPr lang="en-US" sz="3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en </a:t>
            </a:r>
            <a:r>
              <a:rPr lang="en-US" sz="30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lechuga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5F8A770-C33F-016D-5A3E-D7674CDEE264}"/>
              </a:ext>
            </a:extLst>
          </p:cNvPr>
          <p:cNvSpPr/>
          <p:nvPr/>
        </p:nvSpPr>
        <p:spPr>
          <a:xfrm>
            <a:off x="1267705" y="3280725"/>
            <a:ext cx="485621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8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Proceso que inicia con la imbibición de agua y termina cuando la radícula emerge de la semilla (Rodríguez-Quilón et al., 2008).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FFFBF9-A971-5F4F-6674-6B6FBC33FC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8" t="41852" r="17062" b="27778"/>
          <a:stretch>
            <a:fillRect/>
          </a:stretch>
        </p:blipFill>
        <p:spPr>
          <a:xfrm>
            <a:off x="4264226" y="5879953"/>
            <a:ext cx="3352800" cy="3124200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B3FA4503-921F-920A-F14C-83C67084602A}"/>
              </a:ext>
            </a:extLst>
          </p:cNvPr>
          <p:cNvSpPr/>
          <p:nvPr/>
        </p:nvSpPr>
        <p:spPr>
          <a:xfrm>
            <a:off x="6903420" y="3280725"/>
            <a:ext cx="4856214" cy="2128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ES" sz="28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Internos: viabilidad del embrión y reservas. </a:t>
            </a:r>
          </a:p>
          <a:p>
            <a:pPr marL="0" indent="0" algn="just">
              <a:buNone/>
            </a:pPr>
            <a:endParaRPr lang="es-ES" sz="2800" dirty="0">
              <a:solidFill>
                <a:srgbClr val="1E1E1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ES" sz="28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Externos: agua, temperatura y luz (Suárez &amp; Melgarejo, 2010).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0840895C-AA1C-DCAC-B2AA-6D59F403E146}"/>
              </a:ext>
            </a:extLst>
          </p:cNvPr>
          <p:cNvSpPr/>
          <p:nvPr/>
        </p:nvSpPr>
        <p:spPr>
          <a:xfrm>
            <a:off x="12539135" y="3280725"/>
            <a:ext cx="485621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ES" sz="28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Clásicamente </a:t>
            </a:r>
            <a:r>
              <a:rPr lang="es-ES" sz="2800" dirty="0" err="1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fotoblástica</a:t>
            </a:r>
            <a:r>
              <a:rPr lang="es-ES" sz="28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positiva, aunque semillas de alto vigor pueden germinar independientemente de la luz.</a:t>
            </a:r>
          </a:p>
        </p:txBody>
      </p:sp>
      <p:pic>
        <p:nvPicPr>
          <p:cNvPr id="1026" name="Picture 2" descr="Semillas De Lechuga Sobre Fondo Blanco Foto de archivo - Imagen de  ingrediente, culinario: 255699980">
            <a:extLst>
              <a:ext uri="{FF2B5EF4-FFF2-40B4-BE49-F238E27FC236}">
                <a16:creationId xmlns:a16="http://schemas.microsoft.com/office/drawing/2014/main" id="{8CAC23B5-2F07-13EA-A40C-92B51387A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5574454"/>
            <a:ext cx="4856214" cy="315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11284"/>
            <a:ext cx="18288000" cy="836200"/>
            <a:chOff x="0" y="0"/>
            <a:chExt cx="24384000" cy="1114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287422" y="9665880"/>
            <a:ext cx="1713155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22196" y="1485900"/>
            <a:ext cx="4243608" cy="606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OBJETIVOS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2478283"/>
            <a:ext cx="1510292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36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Evaluar el efecto que tiene la luz sobre la germinación de semillas de lechuga</a:t>
            </a: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66800" y="3044017"/>
            <a:ext cx="1341120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36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Estimar el tiempo de germinación de semillas tanto con luz y sin luz.</a:t>
            </a: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3D29C05F-A724-42F9-BE6B-A5A9B4434FB0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E702F1D3-B214-8A48-22D5-5633EDA730CA}"/>
              </a:ext>
            </a:extLst>
          </p:cNvPr>
          <p:cNvSpPr/>
          <p:nvPr/>
        </p:nvSpPr>
        <p:spPr>
          <a:xfrm>
            <a:off x="15284467" y="9582780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A51809-D004-C5C9-CD6C-6B5A1B2994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535577" y="1830570"/>
            <a:ext cx="4930000" cy="87644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" y="9464175"/>
            <a:ext cx="18288000" cy="836200"/>
            <a:chOff x="0" y="0"/>
            <a:chExt cx="24384000" cy="1114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31900" y="1339908"/>
            <a:ext cx="3584600" cy="530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Materiales</a:t>
            </a:r>
            <a:endParaRPr lang="en-US" sz="34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26319" y="1944944"/>
            <a:ext cx="4572000" cy="629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Papel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toalla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Papel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aluminio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Jeringa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Agua mineral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Pinzas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Cinta scotch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Ligas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Regla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Tijera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Etiquetas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Laptop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Recipientes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(tapers)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Semillas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lechuga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50435" y="379114"/>
            <a:ext cx="9284408" cy="606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II. MATERIALES Y METODOLOGÍA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DB6C6078-995F-4945-A7A4-D448881B3FE9}"/>
              </a:ext>
            </a:extLst>
          </p:cNvPr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B12E20A7-3B55-422E-9040-0BB9091829C3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3E178291-1928-D5C3-A42E-35F7CB0E1F8F}"/>
              </a:ext>
            </a:extLst>
          </p:cNvPr>
          <p:cNvSpPr/>
          <p:nvPr/>
        </p:nvSpPr>
        <p:spPr>
          <a:xfrm>
            <a:off x="15249831" y="948149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14D326B2-2321-F2A0-1F7D-A484BF932B61}"/>
              </a:ext>
            </a:extLst>
          </p:cNvPr>
          <p:cNvSpPr txBox="1"/>
          <p:nvPr/>
        </p:nvSpPr>
        <p:spPr>
          <a:xfrm>
            <a:off x="9692639" y="1259785"/>
            <a:ext cx="5145101" cy="530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Metodología</a:t>
            </a:r>
            <a:endParaRPr lang="en-US" sz="34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D5668A1E-3658-D060-93A1-7E08DE01832A}"/>
              </a:ext>
            </a:extLst>
          </p:cNvPr>
          <p:cNvSpPr/>
          <p:nvPr/>
        </p:nvSpPr>
        <p:spPr>
          <a:xfrm>
            <a:off x="7777478" y="2341361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Diseño experimental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A61DF364-781E-7DA0-8941-573C2C671758}"/>
              </a:ext>
            </a:extLst>
          </p:cNvPr>
          <p:cNvSpPr/>
          <p:nvPr/>
        </p:nvSpPr>
        <p:spPr>
          <a:xfrm>
            <a:off x="10725742" y="2230984"/>
            <a:ext cx="6724058" cy="92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DCA con 2 tratamientos (con luz / sin luz) y 6 repeticiones = 12 unidades experimentales.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368ADE47-055F-FAB6-5628-619C4001A0E1}"/>
              </a:ext>
            </a:extLst>
          </p:cNvPr>
          <p:cNvSpPr/>
          <p:nvPr/>
        </p:nvSpPr>
        <p:spPr>
          <a:xfrm>
            <a:off x="7777478" y="332117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Montaje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D91D11CF-E4CC-D366-07DE-7D81BA7923E5}"/>
              </a:ext>
            </a:extLst>
          </p:cNvPr>
          <p:cNvSpPr/>
          <p:nvPr/>
        </p:nvSpPr>
        <p:spPr>
          <a:xfrm>
            <a:off x="10374888" y="3057733"/>
            <a:ext cx="7235611" cy="949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Taper con papel toalla húmedo + 25 semillas uniformes. Sin luz: cubiertos con papel aluminio.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D69957D1-9F59-9CF1-55D4-F15A53920A2E}"/>
              </a:ext>
            </a:extLst>
          </p:cNvPr>
          <p:cNvSpPr/>
          <p:nvPr/>
        </p:nvSpPr>
        <p:spPr>
          <a:xfrm>
            <a:off x="7772400" y="4119453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Seguimiento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BAEE09EE-0603-B81A-FCD7-ACD6DF9592C5}"/>
              </a:ext>
            </a:extLst>
          </p:cNvPr>
          <p:cNvSpPr/>
          <p:nvPr/>
        </p:nvSpPr>
        <p:spPr>
          <a:xfrm>
            <a:off x="10374887" y="3782259"/>
            <a:ext cx="7235611" cy="1132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Evaluación diaria por 5 días, registrando germinación en libro de campo.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Gráfico 1">
            <a:extLst>
              <a:ext uri="{FF2B5EF4-FFF2-40B4-BE49-F238E27FC236}">
                <a16:creationId xmlns:a16="http://schemas.microsoft.com/office/drawing/2014/main" id="{F856CE33-E0D2-4483-C70B-543EC830D6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9200" y="5021183"/>
            <a:ext cx="7723140" cy="42701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11284"/>
            <a:ext cx="18288000" cy="836200"/>
            <a:chOff x="0" y="0"/>
            <a:chExt cx="24384000" cy="1114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979750" y="987588"/>
            <a:ext cx="1021337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Resultados</a:t>
            </a:r>
            <a:endParaRPr lang="en-US" sz="4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F4F74138-AF3D-4B78-AE3D-8211BEE9E3A0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D262CADA-8948-9962-24E3-E5288034D6D5}"/>
              </a:ext>
            </a:extLst>
          </p:cNvPr>
          <p:cNvSpPr/>
          <p:nvPr/>
        </p:nvSpPr>
        <p:spPr>
          <a:xfrm>
            <a:off x="15249832" y="952695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DF8465D7-D9F4-42F5-BFF3-BA3A212ECF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4D4562E8-CDD7-4391-A589-EDBA4C93E6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B508D745-A9D0-41F6-BA27-FF0D67E0C0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96400" y="5295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9642DBD-3397-3095-ADD9-5E50C217C4C8}"/>
              </a:ext>
            </a:extLst>
          </p:cNvPr>
          <p:cNvGrpSpPr/>
          <p:nvPr/>
        </p:nvGrpSpPr>
        <p:grpSpPr>
          <a:xfrm>
            <a:off x="328122" y="1741186"/>
            <a:ext cx="5774581" cy="3810000"/>
            <a:chOff x="4478" y="-516219"/>
            <a:chExt cx="4195445" cy="3190835"/>
          </a:xfrm>
        </p:grpSpPr>
        <p:pic>
          <p:nvPicPr>
            <p:cNvPr id="27" name="Imagen 1">
              <a:extLst>
                <a:ext uri="{FF2B5EF4-FFF2-40B4-BE49-F238E27FC236}">
                  <a16:creationId xmlns:a16="http://schemas.microsoft.com/office/drawing/2014/main" id="{5B64E0FA-7506-D14A-8ACC-062918B60D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669"/>
            <a:stretch/>
          </p:blipFill>
          <p:spPr bwMode="auto">
            <a:xfrm>
              <a:off x="4478" y="5711"/>
              <a:ext cx="4195445" cy="2668905"/>
            </a:xfrm>
            <a:prstGeom prst="rect">
              <a:avLst/>
            </a:prstGeom>
            <a:ln/>
            <a:extLst>
              <a:ext uri="{53640926-AAD7-44D8-BBD7-CCE9431645EC}">
                <a14:shadowObscured xmlns:a14="http://schemas.microsoft.com/office/drawing/2010/main"/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29" name="Text Box 1">
              <a:extLst>
                <a:ext uri="{FF2B5EF4-FFF2-40B4-BE49-F238E27FC236}">
                  <a16:creationId xmlns:a16="http://schemas.microsoft.com/office/drawing/2014/main" id="{2B62A962-931F-70DA-2175-5B7035FC98C1}"/>
                </a:ext>
              </a:extLst>
            </p:cNvPr>
            <p:cNvSpPr txBox="1"/>
            <p:nvPr/>
          </p:nvSpPr>
          <p:spPr>
            <a:xfrm>
              <a:off x="4478" y="-516219"/>
              <a:ext cx="4195445" cy="457651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buNone/>
              </a:pPr>
              <a:r>
                <a:rPr lang="es-PE" sz="2400" b="1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Germinación diaria</a:t>
              </a:r>
              <a:endParaRPr lang="es-PE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3B9F0F-64EA-3777-62F0-802102CA4279}"/>
              </a:ext>
            </a:extLst>
          </p:cNvPr>
          <p:cNvGrpSpPr/>
          <p:nvPr/>
        </p:nvGrpSpPr>
        <p:grpSpPr>
          <a:xfrm>
            <a:off x="6477000" y="1763618"/>
            <a:ext cx="5774581" cy="3769804"/>
            <a:chOff x="-3064" y="-256329"/>
            <a:chExt cx="4155329" cy="3183044"/>
          </a:xfrm>
        </p:grpSpPr>
        <p:sp>
          <p:nvSpPr>
            <p:cNvPr id="31" name="Text Box 1">
              <a:extLst>
                <a:ext uri="{FF2B5EF4-FFF2-40B4-BE49-F238E27FC236}">
                  <a16:creationId xmlns:a16="http://schemas.microsoft.com/office/drawing/2014/main" id="{CDD982C0-5A9E-7996-4655-21B9F337EFA4}"/>
                </a:ext>
              </a:extLst>
            </p:cNvPr>
            <p:cNvSpPr txBox="1"/>
            <p:nvPr/>
          </p:nvSpPr>
          <p:spPr>
            <a:xfrm>
              <a:off x="-3064" y="-256329"/>
              <a:ext cx="4155329" cy="47007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buNone/>
              </a:pPr>
              <a:r>
                <a:rPr lang="es-PE" sz="2400" b="1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Germinación acumulada</a:t>
              </a:r>
              <a:endParaRPr lang="es-PE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Imagen 2">
              <a:extLst>
                <a:ext uri="{FF2B5EF4-FFF2-40B4-BE49-F238E27FC236}">
                  <a16:creationId xmlns:a16="http://schemas.microsoft.com/office/drawing/2014/main" id="{00DA1EDD-6483-387E-E102-D8A9306097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112"/>
            <a:stretch/>
          </p:blipFill>
          <p:spPr bwMode="auto">
            <a:xfrm>
              <a:off x="0" y="266700"/>
              <a:ext cx="4152265" cy="2660015"/>
            </a:xfrm>
            <a:prstGeom prst="rect">
              <a:avLst/>
            </a:prstGeom>
            <a:ln/>
            <a:extLst>
              <a:ext uri="{53640926-AAD7-44D8-BBD7-CCE9431645EC}">
                <a14:shadowObscured xmlns:a14="http://schemas.microsoft.com/office/drawing/2010/main"/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42CD579-56F1-CC18-5698-C99D249B60CA}"/>
              </a:ext>
            </a:extLst>
          </p:cNvPr>
          <p:cNvGrpSpPr/>
          <p:nvPr/>
        </p:nvGrpSpPr>
        <p:grpSpPr>
          <a:xfrm>
            <a:off x="12496800" y="1719281"/>
            <a:ext cx="5347236" cy="3831905"/>
            <a:chOff x="-7952" y="-365759"/>
            <a:chExt cx="3656330" cy="2471143"/>
          </a:xfrm>
        </p:grpSpPr>
        <p:pic>
          <p:nvPicPr>
            <p:cNvPr id="34" name="Imagen 3">
              <a:extLst>
                <a:ext uri="{FF2B5EF4-FFF2-40B4-BE49-F238E27FC236}">
                  <a16:creationId xmlns:a16="http://schemas.microsoft.com/office/drawing/2014/main" id="{D4C0C604-F514-73B3-1416-F151729270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916"/>
            <a:stretch/>
          </p:blipFill>
          <p:spPr bwMode="auto">
            <a:xfrm>
              <a:off x="-7952" y="23854"/>
              <a:ext cx="3656330" cy="2081530"/>
            </a:xfrm>
            <a:prstGeom prst="rect">
              <a:avLst/>
            </a:prstGeom>
            <a:ln/>
            <a:extLst>
              <a:ext uri="{53640926-AAD7-44D8-BBD7-CCE9431645EC}">
                <a14:shadowObscured xmlns:a14="http://schemas.microsoft.com/office/drawing/2010/main"/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35" name="Text Box 1">
              <a:extLst>
                <a:ext uri="{FF2B5EF4-FFF2-40B4-BE49-F238E27FC236}">
                  <a16:creationId xmlns:a16="http://schemas.microsoft.com/office/drawing/2014/main" id="{E0E31EBF-2BB5-972A-C8F3-E0DEE2B4502D}"/>
                </a:ext>
              </a:extLst>
            </p:cNvPr>
            <p:cNvSpPr txBox="1"/>
            <p:nvPr/>
          </p:nvSpPr>
          <p:spPr>
            <a:xfrm>
              <a:off x="-7952" y="-365759"/>
              <a:ext cx="3656330" cy="34044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buNone/>
              </a:pPr>
              <a:r>
                <a:rPr lang="es-PE" sz="2400" b="1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Germinación total por tratamiento</a:t>
              </a:r>
              <a:endParaRPr lang="es-PE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A1AA052-EE2E-F3EA-C4F2-5B52AC742031}"/>
              </a:ext>
            </a:extLst>
          </p:cNvPr>
          <p:cNvGrpSpPr/>
          <p:nvPr/>
        </p:nvGrpSpPr>
        <p:grpSpPr>
          <a:xfrm>
            <a:off x="4399670" y="5753100"/>
            <a:ext cx="9793459" cy="3886200"/>
            <a:chOff x="0" y="-45625"/>
            <a:chExt cx="5400040" cy="2705464"/>
          </a:xfrm>
        </p:grpSpPr>
        <p:pic>
          <p:nvPicPr>
            <p:cNvPr id="37" name="Imagen 4">
              <a:extLst>
                <a:ext uri="{FF2B5EF4-FFF2-40B4-BE49-F238E27FC236}">
                  <a16:creationId xmlns:a16="http://schemas.microsoft.com/office/drawing/2014/main" id="{159276D4-5C48-7EBE-657C-F0BED527E0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640"/>
            <a:stretch/>
          </p:blipFill>
          <p:spPr bwMode="auto">
            <a:xfrm>
              <a:off x="0" y="382729"/>
              <a:ext cx="5400040" cy="2277110"/>
            </a:xfrm>
            <a:prstGeom prst="rect">
              <a:avLst/>
            </a:prstGeom>
            <a:ln/>
            <a:extLst>
              <a:ext uri="{53640926-AAD7-44D8-BBD7-CCE9431645EC}">
                <a14:shadowObscured xmlns:a14="http://schemas.microsoft.com/office/drawing/2010/main"/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38" name="Text Box 1">
              <a:extLst>
                <a:ext uri="{FF2B5EF4-FFF2-40B4-BE49-F238E27FC236}">
                  <a16:creationId xmlns:a16="http://schemas.microsoft.com/office/drawing/2014/main" id="{54CBCEDC-450C-358C-6142-1A1215945650}"/>
                </a:ext>
              </a:extLst>
            </p:cNvPr>
            <p:cNvSpPr txBox="1"/>
            <p:nvPr/>
          </p:nvSpPr>
          <p:spPr>
            <a:xfrm>
              <a:off x="304800" y="-45625"/>
              <a:ext cx="4857750" cy="369358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buNone/>
              </a:pPr>
              <a:r>
                <a:rPr lang="es-PE" sz="2400" b="1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Indicadores de germinación bajo condiciones de luz y oscuridad</a:t>
              </a:r>
              <a:endParaRPr lang="es-PE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9">
            <a:extLst>
              <a:ext uri="{FF2B5EF4-FFF2-40B4-BE49-F238E27FC236}">
                <a16:creationId xmlns:a16="http://schemas.microsoft.com/office/drawing/2014/main" id="{7602EA5E-87DF-2205-91A3-7862F3D0F573}"/>
              </a:ext>
            </a:extLst>
          </p:cNvPr>
          <p:cNvSpPr txBox="1"/>
          <p:nvPr/>
        </p:nvSpPr>
        <p:spPr>
          <a:xfrm>
            <a:off x="4275773" y="338447"/>
            <a:ext cx="11650027" cy="606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III. RESULTADOS Y DISCUSIONES</a:t>
            </a:r>
          </a:p>
        </p:txBody>
      </p:sp>
    </p:spTree>
    <p:extLst>
      <p:ext uri="{BB962C8B-B14F-4D97-AF65-F5344CB8AC3E}">
        <p14:creationId xmlns:p14="http://schemas.microsoft.com/office/powerpoint/2010/main" val="6735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11284"/>
            <a:ext cx="18288000" cy="836200"/>
            <a:chOff x="0" y="0"/>
            <a:chExt cx="24384000" cy="1114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61210" y="1273560"/>
            <a:ext cx="1021337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Discusiones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F4F74138-AF3D-4B78-AE3D-8211BEE9E3A0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D262CADA-8948-9962-24E3-E5288034D6D5}"/>
              </a:ext>
            </a:extLst>
          </p:cNvPr>
          <p:cNvSpPr/>
          <p:nvPr/>
        </p:nvSpPr>
        <p:spPr>
          <a:xfrm>
            <a:off x="15249832" y="952695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DF8465D7-D9F4-42F5-BFF3-BA3A212ECF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4D4562E8-CDD7-4391-A589-EDBA4C93E6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0AF9A98-B261-97D5-79CC-193125C41755}"/>
              </a:ext>
            </a:extLst>
          </p:cNvPr>
          <p:cNvSpPr/>
          <p:nvPr/>
        </p:nvSpPr>
        <p:spPr>
          <a:xfrm>
            <a:off x="853440" y="2641097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Efecto</a:t>
            </a: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 la luz en lechuga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334BC0E-7695-0C26-2B84-A68F2358A4E4}"/>
              </a:ext>
            </a:extLst>
          </p:cNvPr>
          <p:cNvSpPr/>
          <p:nvPr/>
        </p:nvSpPr>
        <p:spPr>
          <a:xfrm>
            <a:off x="2286000" y="3117863"/>
            <a:ext cx="15163800" cy="1243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 germinación de Lactuca sativa está regulada por el fitocromo (Bewley et al., 2013). Aunque se espera menor germinación en oscuridad (Borthwick et al., 1952), no se encontraron diferencias significativas (t = 0.632; p = 0.541).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2A2D57A-1006-DB2A-54FA-C8071909479F}"/>
              </a:ext>
            </a:extLst>
          </p:cNvPr>
          <p:cNvSpPr/>
          <p:nvPr/>
        </p:nvSpPr>
        <p:spPr>
          <a:xfrm>
            <a:off x="853440" y="473947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Inicio</a:t>
            </a: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y pico de germinación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D633590-869D-E8C9-1FA5-C1F6A82DDDA2}"/>
              </a:ext>
            </a:extLst>
          </p:cNvPr>
          <p:cNvSpPr/>
          <p:nvPr/>
        </p:nvSpPr>
        <p:spPr>
          <a:xfrm>
            <a:off x="2286000" y="5150958"/>
            <a:ext cx="15163800" cy="17104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Germinación inició el día 1 y alcanzó su pico el día 2, coincidiendo con el comportamiento típico de L. sativa (24–72 h bajo condiciones óptimas). La curva acumulada mostró patrón sigmoide característico (Bradford, 2002).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8D057AE-FC22-7BB3-FD96-60811A0E9E5D}"/>
              </a:ext>
            </a:extLst>
          </p:cNvPr>
          <p:cNvSpPr/>
          <p:nvPr/>
        </p:nvSpPr>
        <p:spPr>
          <a:xfrm>
            <a:off x="855061" y="7025677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Implicancias</a:t>
            </a: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prácticas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8B87A0D-3F14-A82F-4E33-241900DE2A44}"/>
              </a:ext>
            </a:extLst>
          </p:cNvPr>
          <p:cNvSpPr/>
          <p:nvPr/>
        </p:nvSpPr>
        <p:spPr>
          <a:xfrm>
            <a:off x="2286001" y="7514455"/>
            <a:ext cx="1516380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 ausencia de luz no afecta la capacidad germinativa en estas condiciones, respaldando la siembra en bandejas cubiertas durante los primeros días, como es común en almácigos (Hernández-Herrera et al., 2014).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685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75079"/>
            <a:ext cx="18288000" cy="836200"/>
            <a:chOff x="0" y="0"/>
            <a:chExt cx="24384000" cy="1114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37308" y="2314104"/>
            <a:ext cx="1021337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IV. CONCLUSIONES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F4F74138-AF3D-4B78-AE3D-8211BEE9E3A0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D262CADA-8948-9962-24E3-E5288034D6D5}"/>
              </a:ext>
            </a:extLst>
          </p:cNvPr>
          <p:cNvSpPr/>
          <p:nvPr/>
        </p:nvSpPr>
        <p:spPr>
          <a:xfrm>
            <a:off x="15249832" y="952695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DF8465D7-D9F4-42F5-BFF3-BA3A212ECF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4D4562E8-CDD7-4391-A589-EDBA4C93E6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F0CE334-A029-4DFB-A64F-DD6326672FAF}"/>
              </a:ext>
            </a:extLst>
          </p:cNvPr>
          <p:cNvSpPr txBox="1"/>
          <p:nvPr/>
        </p:nvSpPr>
        <p:spPr>
          <a:xfrm>
            <a:off x="2514597" y="3481656"/>
            <a:ext cx="13258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luz no tuvo un efecto significativo sobre la germinación de semillas de lechuga bajo las condiciones evaluadas.</a:t>
            </a:r>
          </a:p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porcentaje de germinación final fue muy similar en ambos tratamientos (~97%), cerca del 100%.</a:t>
            </a:r>
          </a:p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TMG (con luz: 2.13 días; sin luz: 1.92 días) y el IVG mostraron variaciones leves, sin significancia estadística.</a:t>
            </a:r>
          </a:p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Semillas de alto vigor pueden germinar eficientemente independientemente de la iluminación.</a:t>
            </a:r>
          </a:p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validan prácticas agrícolas como la siembra en almácigos cubiertos durante los primeros días.</a:t>
            </a:r>
          </a:p>
        </p:txBody>
      </p:sp>
    </p:spTree>
    <p:extLst>
      <p:ext uri="{BB962C8B-B14F-4D97-AF65-F5344CB8AC3E}">
        <p14:creationId xmlns:p14="http://schemas.microsoft.com/office/powerpoint/2010/main" val="3814069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597" y="1441837"/>
            <a:ext cx="17068800" cy="7632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Batlla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Benech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-Arnold, R. L. (2010).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changes in dormancy level in natural seed soil banks.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Molecular Biology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(1-2), 3-13.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https://doi.org/10.1007/s11103-010-9601-z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Bewley, J. D., Bradford, K. J.,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Hilhorst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W. M.,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Nonogaki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(2013).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Seeds: Physiology of development, germination and dormancy (3rd ed.).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Springer New York.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https://doi.org/10.1007/978-1-4614-4693-4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Borthwick, H. A., Hendricks, S. B., Parker, M. W., Toole, E. H., &amp; Toole, V. K. (1952). A Reversible Photoreaction Controlling Seed Germination.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National Academy of Sciences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(8), 662-666.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https://doi.org/10.1073/pnas.38.8.662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Bradford, K. J. (2002). Applications of hydrothermal time to quantifying and modeling seed germination and dormancy.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Weed Science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248-260.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https://doi.org/https://doi.org/10.1614/0043-1745(2002)050[0248:AOHTTQ]2.0.CO;2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Finch‐Savage, W. E., &amp; Leubner‐Metzger, G. (2006). Seed dormancy and the control of germination.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Phytologist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171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501-523.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https://doi.org/10.1111/j.1469-8137.2006.01787.x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Hernández-Herrera, R. M., Santacruz-Ruvalcaba, F., Ruiz-López, M. A., Norrie, J., &amp; Hernández-Carmona, G. (2014).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liquid seaweed extracts on growth of tomato seedlings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Solanum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lycopersicum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L.).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Applied Phycology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619-628.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https://doi.org/10.1007/s10811-013-0078-4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Lemos Neto, H. D. S., Guimarães, M. D. A., Silva, B. D. N., &amp; Medeiros Filho, S. (2018). 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Germinación y emergencia de lechuga a temperaturas elevadas.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Revista Colombiana de Ciencias Hortícolas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677-684.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https://doi.org/10.17584/rcch.2018v12i3.7720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Nascimento, W. M., &amp;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Cantliffe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J. (2002).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Germinação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sementes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alface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altas temperaturas.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Horticultura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Brasileira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103-106.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https://doi.org/10.1590/S0102-05362002000100020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Quail, P. H. (2002). Phytochrome photosensory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signalling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networks.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Molecular Cell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Biology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85-93.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https://doi.org/10.1038/nrm728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Rodríguez-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Quilón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Adam, G., &amp; Durán, J. (2008). Ensayos de germinación y análisis de viabilidad y vigor en semillas.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Semillas hortícolas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836-838.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https://orbi.uliege.be/bitstream/2268/37372/1/articulo%20definitivo%20agricultura%20nov.pdf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Rosabal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L., Martínez, L., Yanelis, R.,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Dell’Amico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&amp; Núñez, M. (2014).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ReviewPhysiological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biochemistry and gene expression aspects in water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stress.Influence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germination process.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Cultivos tropicales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24-35.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http://scielo.sld.cu/pdf/ctr/v35n3/ctr03314.pdf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Suárez, D., &amp; Melgarejo, L. (2010). Biología y germinación de semillas.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Experimentos en fisiología vegetal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13-25.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https://scholar.google.com/citations?view_op=view_citation&amp;hl=es&amp;user=uirNabYAAAAJ&amp;citation_for_view=uirNabYAAAAJ:XiSMed-E-HIC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Yanniccari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Tambussi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Istilart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&amp; Castro, A. M. (2012). Glyphosate effects on gas exchange and chlorophyll fluorescence responses of two Lolium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perenne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biotypes with differential herbicide sensitivity.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Physiology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Biochemistry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210-217.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https://doi.org/10.1016/j.plaphy.2012.05.027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899847" y="545214"/>
            <a:ext cx="8488299" cy="606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V. REFERENCIAS</a:t>
            </a:r>
            <a:endParaRPr lang="en-US" sz="39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22536" y="0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450800"/>
            <a:ext cx="18288000" cy="836200"/>
            <a:chOff x="0" y="0"/>
            <a:chExt cx="24384000" cy="1114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44F56DF9-D966-4E14-81B8-99AEDF215BD6}"/>
              </a:ext>
            </a:extLst>
          </p:cNvPr>
          <p:cNvSpPr/>
          <p:nvPr/>
        </p:nvSpPr>
        <p:spPr>
          <a:xfrm>
            <a:off x="16692403" y="0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4AF3C716-A367-40A9-FA7F-9F3C28FF26AB}"/>
              </a:ext>
            </a:extLst>
          </p:cNvPr>
          <p:cNvSpPr/>
          <p:nvPr/>
        </p:nvSpPr>
        <p:spPr>
          <a:xfrm>
            <a:off x="15249831" y="948149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22536" y="0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450800"/>
            <a:ext cx="18288000" cy="836200"/>
            <a:chOff x="0" y="0"/>
            <a:chExt cx="24384000" cy="1114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44F56DF9-D966-4E14-81B8-99AEDF215BD6}"/>
              </a:ext>
            </a:extLst>
          </p:cNvPr>
          <p:cNvSpPr/>
          <p:nvPr/>
        </p:nvSpPr>
        <p:spPr>
          <a:xfrm>
            <a:off x="16692403" y="0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4AF3C716-A367-40A9-FA7F-9F3C28FF26AB}"/>
              </a:ext>
            </a:extLst>
          </p:cNvPr>
          <p:cNvSpPr/>
          <p:nvPr/>
        </p:nvSpPr>
        <p:spPr>
          <a:xfrm>
            <a:off x="15249831" y="948149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pic>
        <p:nvPicPr>
          <p:cNvPr id="8194" name="Picture 2" descr="Gracias por su atencion on Make a GIF">
            <a:extLst>
              <a:ext uri="{FF2B5EF4-FFF2-40B4-BE49-F238E27FC236}">
                <a16:creationId xmlns:a16="http://schemas.microsoft.com/office/drawing/2014/main" id="{EA33B8B0-1A76-4363-BB4D-4CD0160FF1E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299" y="1145807"/>
            <a:ext cx="13487400" cy="758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717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0DCED-6477-7F8E-4F2A-C1C4EEE3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2B338AE-639B-1CD2-35A3-60B7F0F1E897}"/>
              </a:ext>
            </a:extLst>
          </p:cNvPr>
          <p:cNvGrpSpPr/>
          <p:nvPr/>
        </p:nvGrpSpPr>
        <p:grpSpPr>
          <a:xfrm>
            <a:off x="2" y="9464176"/>
            <a:ext cx="18288000" cy="836228"/>
            <a:chOff x="0" y="0"/>
            <a:chExt cx="24384000" cy="1114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BAA1EB7-95E7-52E1-5570-02881A5901A2}"/>
                </a:ext>
              </a:extLst>
            </p:cNvPr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644" t="-3"/>
              </a:stretch>
            </a:blipFill>
          </p:spPr>
          <p:txBody>
            <a:bodyPr/>
            <a:lstStyle/>
            <a:p>
              <a:endParaRPr lang="es-PE" sz="270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560F3B8-613A-4356-7987-D06D5FDEAE7C}"/>
              </a:ext>
            </a:extLst>
          </p:cNvPr>
          <p:cNvGrpSpPr/>
          <p:nvPr/>
        </p:nvGrpSpPr>
        <p:grpSpPr>
          <a:xfrm>
            <a:off x="441340" y="441341"/>
            <a:ext cx="3271016" cy="961703"/>
            <a:chOff x="0" y="0"/>
            <a:chExt cx="4361354" cy="12822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298E2CC-FA4F-1937-2A99-DD34926A069B}"/>
                </a:ext>
              </a:extLst>
            </p:cNvPr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5" r="-1" b="-202"/>
              </a:stretch>
            </a:blipFill>
          </p:spPr>
          <p:txBody>
            <a:bodyPr/>
            <a:lstStyle/>
            <a:p>
              <a:endParaRPr lang="es-PE" sz="2700"/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6AE28DB-35BC-4B03-A682-3F0D30FEB19C}"/>
              </a:ext>
            </a:extLst>
          </p:cNvPr>
          <p:cNvSpPr txBox="1"/>
          <p:nvPr/>
        </p:nvSpPr>
        <p:spPr>
          <a:xfrm>
            <a:off x="8195983" y="9686835"/>
            <a:ext cx="18960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CFF4AC0D-F5C1-46E6-B32A-77110B328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655640"/>
              </p:ext>
            </p:extLst>
          </p:nvPr>
        </p:nvGraphicFramePr>
        <p:xfrm>
          <a:off x="2628900" y="2362503"/>
          <a:ext cx="13030200" cy="556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5100">
                  <a:extLst>
                    <a:ext uri="{9D8B030D-6E8A-4147-A177-3AD203B41FA5}">
                      <a16:colId xmlns:a16="http://schemas.microsoft.com/office/drawing/2014/main" val="3823418516"/>
                    </a:ext>
                  </a:extLst>
                </a:gridCol>
                <a:gridCol w="6515100">
                  <a:extLst>
                    <a:ext uri="{9D8B030D-6E8A-4147-A177-3AD203B41FA5}">
                      <a16:colId xmlns:a16="http://schemas.microsoft.com/office/drawing/2014/main" val="1728554791"/>
                    </a:ext>
                  </a:extLst>
                </a:gridCol>
              </a:tblGrid>
              <a:tr h="5004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Estudiantes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participación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7559694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Campos Troyes Edgar Orlando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065861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Tarrillo Reina Mayra </a:t>
                      </a:r>
                      <a:r>
                        <a:rPr lang="es-PE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Estefanny</a:t>
                      </a:r>
                      <a:endParaRPr lang="es-PE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5323176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Neyra Alarcon Shirley Milagros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1542660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Silva Castro Jose Luis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9308049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Tapia Chavarri Britney Emeli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8197391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Montano Salazar Segundo Bernabe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1025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004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1258</Words>
  <Application>Microsoft Office PowerPoint</Application>
  <PresentationFormat>Custom</PresentationFormat>
  <Paragraphs>109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 Bold</vt:lpstr>
      <vt:lpstr>Times New Roman</vt:lpstr>
      <vt:lpstr>Wingdings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DISERTACIÓN</dc:title>
  <dc:creator>Asus</dc:creator>
  <cp:lastModifiedBy>Edgar Orlando Campos Troyes</cp:lastModifiedBy>
  <cp:revision>32</cp:revision>
  <dcterms:created xsi:type="dcterms:W3CDTF">2006-08-16T00:00:00Z</dcterms:created>
  <dcterms:modified xsi:type="dcterms:W3CDTF">2026-04-20T18:47:32Z</dcterms:modified>
  <dc:identifier>DAGoZPTjBcg</dc:identifier>
</cp:coreProperties>
</file>